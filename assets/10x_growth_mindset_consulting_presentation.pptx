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【採用版型與風格】cover ｜ McKinsey &amp; Company</a:t>
            </a:r>
          </a:p>
          <a:p>
            <a:r>
              <a:t>① 本頁結論：歡迎各位。今天我們將以頂尖顧問的視角，深度解構丹·蘇利文與班傑明·哈迪的經典著作《10倍成長思維》。</a:t>
            </a:r>
          </a:p>
          <a:p>
            <a:r>
              <a:t>② 補充說明：本書的核心哲學在於：10倍成長在數學與系統層面上，遠比2倍成長更簡單。因為2倍是過去的線性延續，而10倍則是質變與減法的智慧。</a:t>
            </a:r>
          </a:p>
          <a:p>
            <a:r>
              <a:t>③ 下一頁轉場：首先，讓我們透過全書架構骨架，綜覽10倍躍遷的四大核心維度。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(Parallel) ｜ McKinsey &amp; Company</a:t>
            </a:r>
          </a:p>
          <a:p>
            <a:r>
              <a:t>① 本頁結論：本頁呈現全書的四大核心支柱：認知、時間、組織與自我演進。</a:t>
            </a:r>
          </a:p>
          <a:p>
            <a:r>
              <a:t>② 補充說明：大多數人以為追求10倍需要付出5倍於2倍的努力，但事實恰好相反，只有同時在這四個維度上重塑系統，才能擺脫努力的邊際效用遞減。</a:t>
            </a:r>
          </a:p>
          <a:p>
            <a:r>
              <a:t>③ 下一頁轉場：接下來，我們透過對立論法深入對比2倍思維與10倍思維的本質差異。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(Opposition) ｜ BCG (Boston Consulting Group)</a:t>
            </a:r>
          </a:p>
          <a:p>
            <a:r>
              <a:t>① 本頁結論：2倍與10倍不是程度的差距，而是物種的差異。</a:t>
            </a:r>
          </a:p>
          <a:p>
            <a:r>
              <a:t>② 補充說明：2倍思維讓你落入紅海競爭與精力耗竭，因為每個人都在試圖『多做一點』；而10倍思維逼迫你跳脫原有賽道，透過減法過濾雜訊。</a:t>
            </a:r>
          </a:p>
          <a:p>
            <a:r>
              <a:t>③ 下一頁轉場：既然10倍思維本質是減法，那麼該如何具體落實帕雷托法則？請看下一頁的一對一論法分析。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1：一對一論法 (One-to-One) ｜ McKinsey &amp; Company</a:t>
            </a:r>
          </a:p>
          <a:p>
            <a:r>
              <a:t>① 本頁結論：本頁的核心證據清楚顯示：80%的價值來自於少數20%的獨特能力活動。</a:t>
            </a:r>
          </a:p>
          <a:p>
            <a:r>
              <a:t>② 補充說明：追求10倍最艱難的不是做什麼，而是『不准做什麼』。唯有敢於向次要事務說不，才能騰出空間容納指數級的機會。</a:t>
            </a:r>
          </a:p>
          <a:p>
            <a:r>
              <a:t>③ 下一頁轉場：接下來，我們要探討支撐這種極致減法的底層心態——結合論法三層金字塔。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3：結合論法 (Combined Tree) ｜ McKinsey &amp; Company</a:t>
            </a:r>
          </a:p>
          <a:p>
            <a:r>
              <a:t>① 本頁結論：要實現10倍躍遷，內部標準與外部環境必須同時升級。</a:t>
            </a:r>
          </a:p>
          <a:p>
            <a:r>
              <a:t>② 補充說明：內部把標準從『想要』拉高到『非要不可』；外部則無情清理消耗性人際，換成能彼此賦能的英雄同盟。兩者缺一不可。</a:t>
            </a:r>
          </a:p>
          <a:p>
            <a:r>
              <a:t>③ 下一頁轉場：建立了十倍標準後，我們的自我認同將如何隨時間動態進化？請看第四章的連鎖路線圖。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/ Roadmap) ｜ Accenture</a:t>
            </a:r>
          </a:p>
          <a:p>
            <a:r>
              <a:t>① 本頁結論：未來的自己不是被動等待的結果，而是主動設計的導航儀。</a:t>
            </a:r>
          </a:p>
          <a:p>
            <a:r>
              <a:t>② 補充說明：先解除過去身份的枷鎖，接著讓未來的自己給現在發號施令，最後把所有資源傾注在獨特能力上，達成不可阻擋的進化。</a:t>
            </a:r>
          </a:p>
          <a:p>
            <a:r>
              <a:t>③ 下一頁轉場：然而，許多人最大的瓶頸在於時間被瑣事塞滿。丹·蘇利文提出了著名的創業家三大時間系統。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7：比較論法 (Comparison) ｜ Accenture</a:t>
            </a:r>
          </a:p>
          <a:p>
            <a:r>
              <a:t>① 本頁結論：時間自由是所有自由的基石。丹·蘇利文堅持每年必須有150天以上的自由日。</a:t>
            </a:r>
          </a:p>
          <a:p>
            <a:r>
              <a:t>② 補充說明：自由日負責充能，專注日負責高槓桿產出，緩衝日負責吸收瑣事。三者分明，才能在極少的工作天數中創造極大的商業價值。</a:t>
            </a:r>
          </a:p>
          <a:p>
            <a:r>
              <a:t>③ 下一頁轉場：要想騰出150天自由日，領導者必須建立自我管理團隊。讓我們看看創業家的四個進化等級。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Matrix) ｜ McKinsey &amp; Company</a:t>
            </a:r>
          </a:p>
          <a:p>
            <a:r>
              <a:t>① 本頁結論：從第一級到第四級，是從勞力輸出到資本與智慧槓桿的躍遷。</a:t>
            </a:r>
          </a:p>
          <a:p>
            <a:r>
              <a:t>② 補充說明：大多數創業家卡在第二級：他們以為自己在領導，其實只是在微觀管理。唯有放手讓優秀人才去想 How，組織才能邁向自我管理。</a:t>
            </a:r>
          </a:p>
          <a:p>
            <a:r>
              <a:t>③ 下一頁轉場：在了解了思維、時間與組織之後，我們如何評估自己當前處於哪種策略象限？請看 BCG 四象限矩陣。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8：BCG 論法 (BCG 2×2 Matrix) ｜ BCG (Boston Consulting Group)</a:t>
            </a:r>
          </a:p>
          <a:p>
            <a:r>
              <a:t>① 本頁結論：BCG矩陣清楚指出：我們的目標不是成為右上的工作狂專家，而是右下的10x躍遷者。</a:t>
            </a:r>
          </a:p>
          <a:p>
            <a:r>
              <a:t>② 補充說明：左下是消耗泥淖，右下是專家瓶頸。唯有具備高槓桿價值同時享受時間自由，才是丹·蘇利文所定義的真正成功。</a:t>
            </a:r>
          </a:p>
          <a:p>
            <a:r>
              <a:t>③ 下一頁轉場：那麼，在實際落地過程中，最容易遭遇哪些斷點？我們該如何提前排查？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Matrix) ｜ McKinsey &amp; Company</a:t>
            </a:r>
          </a:p>
          <a:p>
            <a:r>
              <a:t>① 本頁結論：大多數人在轉型10倍時失敗，不是因為智商不夠，而是遇到了這三大斷點。</a:t>
            </a:r>
          </a:p>
          <a:p>
            <a:r>
              <a:t>② 補充說明：認知上不敢想、時間上不敢歇、組織上不敢放。只要逐一對症下藥，阻力便能化為躍遷的助力。</a:t>
            </a:r>
          </a:p>
          <a:p>
            <a:r>
              <a:t>③ 下一頁轉場：最後，我們將所有原則整合為具體的四步落地行動指南。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(Roadmap) ｜ Accenture</a:t>
            </a:r>
          </a:p>
          <a:p>
            <a:r>
              <a:t>① 本頁結論：知易行難，這四步是啟動10倍循環的最快抓手。</a:t>
            </a:r>
          </a:p>
          <a:p>
            <a:r>
              <a:t>② 補充說明：盤點、修剪、排定自由日、尋找Who。按照這個順序前進，你將在三個月內看見人生的重大轉機。</a:t>
            </a:r>
          </a:p>
          <a:p>
            <a:r>
              <a:t>③ 下一頁轉場：讓我們來到最後的總結頁，凝聚全書的核心信念。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(Parallel) ｜ McKinsey &amp; Company</a:t>
            </a:r>
          </a:p>
          <a:p>
            <a:r>
              <a:t>① 本頁結論：各位，10倍不是一個目標，而是一個思考的濾鏡。</a:t>
            </a:r>
          </a:p>
          <a:p>
            <a:r>
              <a:t>② 補充說明：當你用10倍的眼光審視人生，所有無意義的噪音都會自動消失。記住這三大信念：做減法、休好假、找能人，你的人生將徹底改觀。</a:t>
            </a:r>
          </a:p>
          <a:p>
            <a:r>
              <a:t>③ 下一頁轉場：感謝各位的聆聽，願大家都在未來自我的引領下，實現十倍成長與全面自由！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463040"/>
            <a:ext cx="16459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ZERO-NOISE CONSULTING BRIEFING  |  McKinsey・BCG・Accenture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《10倍成長思維》頂尖管理顧問精華導讀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核心主張：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AC4D2"/>
                </a:solidFill>
              </a:defRPr>
            </a:pPr>
            <a:r>
              <a:t>方法論來源：前 BCG 顧問森秀明《無雜訊簡報製作法》 × 三大管顧視覺系統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全書架構骨架  ｜  版型 2：並列論法 (Parallel)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主張：10倍躍遷建構於認知、時間、組織與自我四大維度的系統性重塑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四大支柱相互扣連，缺一不可，共同支撐從線性競爭到質變躍遷的轉型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Dan Sullivan &amp; Dr. Benjamin Hardy《10x Is Easier Than 2x》全書架構解析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76423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2476423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支柱一：認知重構</a:t>
            </a:r>
            <a:br/>
            <a:r>
              <a:t>10x vs 2x 質變思維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11066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打破線性努力的直覺盲區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放棄 80% 無效工作與妥協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建立「非要不可」十倍標準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淘汰能量吸血鬼與最低標準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2263" y="1874519"/>
            <a:ext cx="2476423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2263" y="1874519"/>
            <a:ext cx="2476423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支柱二：時間重組</a:t>
            </a:r>
            <a:br/>
            <a:r>
              <a:t>年度 150 天自由日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2514600"/>
            <a:ext cx="211066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劃分自由日、專注日、緩衝日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徹底斷聯休假是產出先決條件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專注日全力投入心流關鍵產出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以成果質量取代出勤工時考核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2476423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874519"/>
            <a:ext cx="2476423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支柱三：組織槓桿</a:t>
            </a:r>
            <a:br/>
            <a:r>
              <a:t>打造自我管理團隊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514600"/>
            <a:ext cx="211066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從單打獨鬥進化至自驅團隊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落實 Who Not How 協同合作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領導者專注定義 Why &amp; What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賦能 A-Player 團隊自主解題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3751" y="1874519"/>
            <a:ext cx="2476423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83751" y="1874519"/>
            <a:ext cx="2476423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支柱四：自我演進</a:t>
            </a:r>
            <a:br/>
            <a:r>
              <a:t>由未來的自己引領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6631" y="2514600"/>
            <a:ext cx="211066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擺脫過去經驗與匱乏心態束縛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以未來十倍願景倒推當下決策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鎖定「獨特能力 (Unique Ability)」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在熱愛與卓越的交集處複利爆發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核心思維對照  ｜  版型 6：對立論法 (Opposition)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主張：2倍成長是過去的線性延續導致力竭，10倍躍遷則是質變減法開闢新局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針對思考本質、努力模式、組織槓桿與身分認同四個維度進行深度對比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《10倍成長思維》第一章：十倍比兩倍更簡單 ｜ BCG 對立論法結構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4297680" cy="502920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見解 A：2倍思維（線性延續／As-Is）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見解 B：10倍思維（質變躍遷／To-Be）★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思考本質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68880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③ 以「過去」為基準，試圖在現有軌道上多做 10%~100%，延續舊有習慣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68880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③ 以「未來」為起點倒推，徹底顛覆既有假設，設計全新運作系統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努力模式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③ 加法與蠻力：增加工作時間、承擔更多雜務，保留 80% 次要事務導致過勞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47288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③ 減法與聚焦：果斷捨棄 80% 低效工作與客群，極致聚焦於 20% 核心槓桿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25696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組織槓桿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425696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③ 執著於「How（我該怎麼做）」：事必躬親、微觀管理、被瑣事牢牢綁死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425696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③ 尋找「Who（誰能做到）」：搭建自驅互利團隊，釋放領導者時間自由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04104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身分認同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404104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③ 匱乏心態與討好：滿足於「最低標準」，受困於維持現狀與安全感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404104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③ 富足心態與承諾：設定「非要不可」十倍標準，與英雄同盟共創價值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極致減法數據分析  ｜  版型 1：一對一論法 (One-to-One)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主張：追求10倍躍遷必須果斷淘汰80%次要努力，唯有極致聚焦20%才能突破瓶頸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帕雷托法則在10倍框架下的極致演繹：80%的精力往往只貢獻20%邊際價值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《10倍成長思維》第二章：若想讓成果質量提升十倍，請先放棄八成的無效努力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286000"/>
            <a:ext cx="777240" cy="3474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1C2C"/>
                </a:solidFill>
              </a:defRPr>
            </a:pPr>
            <a:r>
              <a:t>80%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獨特能力核心業務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4892040"/>
            <a:ext cx="777240" cy="868680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454456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次要行政與例行會議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5109210"/>
            <a:ext cx="777240" cy="651509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476173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妥協客群與低價訂單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5326380"/>
            <a:ext cx="777240" cy="434340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97890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歷史包袱與情感依戀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11680"/>
            <a:ext cx="3200400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② 減法的反直覺智慧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遞迴淘汰機制：現在的 20% 核心，在下一輪 10 倍躍遷時將退化為必須淘汰的 80% 雜務。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最大的阻力是情緒依戀：人們常因安全感或沉沒成本，緊抓著不再帶來成長的舊成果不放。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質量的躍遷：減少 80% 的無效努力後，釋放出的專注力將使剩餘 20% 工作的質量提升十倍以上。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認知心態演繹樹  ｜  版型 3：結合論法 (Combined Tree)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主張：唯有同時跨越心理承諾、淘汰最低標準並結盟英雄，才能實現10倍心態躍遷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多個必要條件同時成立，層層推導構建不可動搖的十倍標準心態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《10倍成長思維》第三章：十倍標準心態VS.最低標準心態 ｜ 麥肯錫金字塔演繹架構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自我演進路線圖  ｜  版型 4：連鎖論法 (Chain / Roadmap)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主張：從過去標籤解綁到由未來自我想像引領，歷經三階段啟動獨特能力複利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以因果時序鏈條展開自我重塑的關鍵旅程：解綁 ➔ 倒推 ➔ 複利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《10倍成長思維》第四章：擺脫過去，以「未來十倍」重新定義自我 ｜ Accenture 轉型路線圖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874519"/>
            <a:ext cx="10728655" cy="384048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② 時間的經過、事物的因果順序、端到端工作流程 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468880"/>
            <a:ext cx="3423818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423818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05805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1" name="Chevron 10"/>
          <p:cNvSpPr/>
          <p:nvPr/>
        </p:nvSpPr>
        <p:spPr>
          <a:xfrm>
            <a:off x="4383938" y="2468880"/>
            <a:ext cx="3423818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3383280"/>
            <a:ext cx="3423818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3520440"/>
            <a:ext cx="305805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Chevron 13"/>
          <p:cNvSpPr/>
          <p:nvPr/>
        </p:nvSpPr>
        <p:spPr>
          <a:xfrm>
            <a:off x="8036356" y="2468880"/>
            <a:ext cx="3423818" cy="777240"/>
          </a:xfrm>
          <a:prstGeom prst="chevron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3383280"/>
            <a:ext cx="3423818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9236" y="3520440"/>
            <a:ext cx="305805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時間系統比較分析  ｜  版型 7：比較論法 (Comparison)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主張：自由日、專注日與緩衝日各司其職，休假不是獎勵而是高產出的先決條件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剖析三大時間型態的個別特徵（差異點）以及驅動10倍轉化的共同核心（共通點）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《10倍成長思維》第五章：每年擁有一百五十天的「自由日」 ｜ 比較論法架構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41148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74720" cy="411480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965960"/>
            <a:ext cx="3474720" cy="41148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111827"/>
                </a:solidFill>
              </a:defRPr>
            </a:pPr>
            <a:r>
              <a:t>① 自由日 (Free Days)</a:t>
            </a:r>
            <a:br/>
            <a:r>
              <a:t>每年 150 天徹底斷聯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定義：連續 24 小時不碰任何公務、不看郵件與訊息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目的：神經系統重置、家庭陪伴、深度睡眠與休閒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反直覺哲學：休息是高產出的先決條件，而非獎賞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A100FF"/>
                </a:solidFill>
              </a:defRPr>
            </a:pPr>
            <a:r>
              <a:t>③ 核心共通價值 (文氏圖交集)</a:t>
            </a:r>
            <a:br/>
            <a:r>
              <a:t>創業家時間系統 (The Entrepreneurial Time System)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【全情投入原則】：在特定日子只做特定類型的事，嚴禁碎片化混雜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【產出導向論】：徹底廢除『工時等於價值』的工業時代思維，以質變成果衡量價值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【邊界保護機制】：提前在年度行事曆鎖定日期，讓團隊自主配合運轉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6B21A8"/>
                </a:solidFill>
              </a:defRPr>
            </a:pPr>
            <a:r>
              <a:t>① 專注日與緩衝日</a:t>
            </a:r>
            <a:br/>
            <a:r>
              <a:t>(Focus &amp; Buffer Days)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專注日：80% 時間專注於獨特能力的關鍵創造與心流產出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緩衝日：集中處理行政雜務、團隊會議、培訓與日程籌備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防禦作用：緩衝日吸收所有雜訊，保護專注日不受干擾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組織進化診斷矩陣  ｜  版型 5：麥肯錫論法 (McKinsey Matrix)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主張：跨越創業家四大成長階段，以「找人做而非自己做」建構自驅型組織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橫軸呈現組織演進四大階段，縱軸深度剖析核心瓶頸與關鍵躍遷策略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《10倍成長思維》第六章：打造「自我管理團隊」 ｜ McKinsey 組織診斷矩陣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階段 1：單打獨鬥</a:t>
            </a:r>
            <a:br/>
            <a:r>
              <a:t>(Solo-Operator)</a:t>
            </a:r>
          </a:p>
        </p:txBody>
      </p:sp>
      <p:sp>
        <p:nvSpPr>
          <p:cNvPr id="8" name="Chevron 7"/>
          <p:cNvSpPr/>
          <p:nvPr/>
        </p:nvSpPr>
        <p:spPr>
          <a:xfrm>
            <a:off x="5036743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階段 2：任務委派</a:t>
            </a:r>
            <a:br/>
            <a:r>
              <a:t>(Delegator)</a:t>
            </a:r>
          </a:p>
        </p:txBody>
      </p:sp>
      <p:sp>
        <p:nvSpPr>
          <p:cNvPr id="9" name="Chevron 8"/>
          <p:cNvSpPr/>
          <p:nvPr/>
        </p:nvSpPr>
        <p:spPr>
          <a:xfrm>
            <a:off x="7238847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階段 3：自我管理團隊</a:t>
            </a:r>
            <a:br/>
            <a:r>
              <a:t>(Self-Managing Team)</a:t>
            </a:r>
          </a:p>
        </p:txBody>
      </p:sp>
      <p:sp>
        <p:nvSpPr>
          <p:cNvPr id="10" name="Chevron 9"/>
          <p:cNvSpPr/>
          <p:nvPr/>
        </p:nvSpPr>
        <p:spPr>
          <a:xfrm>
            <a:off x="9440951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階段 4：自驅擴展組織</a:t>
            </a:r>
            <a:br/>
            <a:r>
              <a:t>(Self-Multiplying)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核心瓶頸</a:t>
            </a:r>
            <a:br/>
            <a:r>
              <a:t>與角色心態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零工心態：萬事親力親為，個人時間即產能天花板，隨時面臨過勞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6743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3903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經理人心態：微觀管理，陷入教員工 How 的無底深淵，成為組織最大瓶頸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6007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領導人心態：需克服對權力與掌控的執念，建立對 A-Player 的充分信任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0951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8111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投資人心態：需保持崇高願景引領，防止組織僵化並激發內部創新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關鍵躍遷策略</a:t>
            </a:r>
            <a:br/>
            <a:r>
              <a:t>(Who Not How)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學會花錢買回時間：聘請第一位助理，轉移重複性事務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6743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3903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落實 Who Not How：只說明 Why &amp; What，由專業人才自主制定 How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8847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6007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建立願景型激勵：吸引自驅人才，賦予決策自主權與成果共享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40951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8111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生態系網絡擴展：組織具備自我繁衍新事業的能力，領導者徹底自由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成長策略象限定位  ｜  版型 8：BCG 論法 (BCG 2×2 Matrix)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主張：以時間投入度與價值槓桿率雙維度，精準定位四類成長模式並聚焦10x象限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融合對立論法（對角線模式對立）與比較論法（同軸模式對比），指明躍遷方向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《10倍成長思維》策略定位分析 ｜ BCG 2x2 Strategic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371600" cy="3749039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② 工作時間投入度 (Y)</a:t>
            </a:r>
            <a:br/>
            <a:br/>
            <a:r>
              <a:t>高工時／親力親為 (Y2)</a:t>
            </a:r>
            <a:br/>
            <a:r>
              <a:t>▲</a:t>
            </a:r>
            <a:br/>
            <a:r>
              <a:t>│</a:t>
            </a:r>
            <a:br/>
            <a:r>
              <a:t>▼</a:t>
            </a:r>
            <a:br/>
            <a:r>
              <a:t>低工時／高度自主 (Y1)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760720"/>
            <a:ext cx="9052560" cy="438912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◄ 低價值槓桿／線性產出 (X1)          ② 價值槓桿率與獨特能力發揮度 (X)          高價值槓桿／指數產出 (X2) 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874519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(X1Y2) 消耗泥淖象限</a:t>
            </a:r>
            <a:br/>
            <a:r>
              <a:t>(Burnout Trap)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長時間超負荷運轉，卻都在處理低價值雜務</a:t>
            </a:r>
            <a:br/>
            <a:r>
              <a:t>• 特徵：焦慮、疲憊、缺乏自由</a:t>
            </a:r>
            <a:br/>
            <a:r>
              <a:t>• 診斷：典型的 2 倍低效努力模式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74519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(X2Y2) 專家匠人陷阱</a:t>
            </a:r>
            <a:br/>
            <a:r>
              <a:t>(Specialist Bottleneck)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產出質量極高，但因無法授權而工時居高不下</a:t>
            </a:r>
            <a:br/>
            <a:r>
              <a:t>• 特徵：個人能力極強，但自己就是最大瓶頸</a:t>
            </a:r>
            <a:br/>
            <a:r>
              <a:t>• 診斷：卡在第 2 級委派階段，缺乏 Who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(X1Y1) 線性平庸象限</a:t>
            </a:r>
            <a:br/>
            <a:r>
              <a:t>(Linear Stagnation)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工時雖然有限，但產出平庸、缺乏核心競爭力</a:t>
            </a:r>
            <a:br/>
            <a:r>
              <a:t>• 特徵：混日子、缺乏雄心與願景</a:t>
            </a:r>
            <a:br/>
            <a:r>
              <a:t>• 與右上【10x 躍遷者】呈完全對立關係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822191"/>
            <a:ext cx="4434840" cy="1810512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4F32"/>
                </a:solidFill>
              </a:defRPr>
            </a:pPr>
            <a:r>
              <a:t>③ (X2Y1) 10x 躍遷者象限 ★ 策略焦點</a:t>
            </a:r>
            <a:br/>
            <a:r>
              <a:t>(10x Multiplier)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極高價值槓桿 ＋ 極度時間自由（150天自由日）</a:t>
            </a:r>
            <a:br/>
            <a:r>
              <a:t>• 特徵：極致聚焦獨特能力、自驅團隊運轉</a:t>
            </a:r>
            <a:br/>
            <a:r>
              <a:t>• 與左上同屬高產出，但工時大幅降低（比較關係）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轉型斷點診斷矩陣  ｜  版型 5：麥肯錫論法 (McKinsey Matrix)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主張：診斷個人與團隊面臨的認知、時間與組織三大斷點，對症導入突破對策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全流程檢視轉型過程中的三大人性阻力與系統斷點，提供管顧級解決方案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《10倍成長思維》實務導入診斷 ｜ McKinsey 斷點分析矩陣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斷點一：認知阻力</a:t>
            </a:r>
            <a:br/>
            <a:r>
              <a:t>（不敢設定十倍目標）</a:t>
            </a:r>
          </a:p>
        </p:txBody>
      </p:sp>
      <p:sp>
        <p:nvSpPr>
          <p:cNvPr id="8" name="Chevron 7"/>
          <p:cNvSpPr/>
          <p:nvPr/>
        </p:nvSpPr>
        <p:spPr>
          <a:xfrm>
            <a:off x="5770778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斷點二：時間失控</a:t>
            </a:r>
            <a:br/>
            <a:r>
              <a:t>（無法真正落實斷聯休假）</a:t>
            </a:r>
          </a:p>
        </p:txBody>
      </p:sp>
      <p:sp>
        <p:nvSpPr>
          <p:cNvPr id="9" name="Chevron 8"/>
          <p:cNvSpPr/>
          <p:nvPr/>
        </p:nvSpPr>
        <p:spPr>
          <a:xfrm>
            <a:off x="8706916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斷點三：組織恐懼</a:t>
            </a:r>
            <a:br/>
            <a:r>
              <a:t>（害怕授權與失去掌控感）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核心病徵</a:t>
            </a:r>
            <a:br/>
            <a:r>
              <a:t>(As-Is 診斷)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認為 10 倍目標不切實際；因害怕失敗而退回安全的 2 倍線性目標；沉溺於小修小補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0778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938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休假時依然神經緊繃看通訊軟體；把自由日當作獎賞而非行事曆第一優先；精力長期透支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6916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4076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堅持『只有我自己做才能做好』；招聘聽話的執行者而非自驅的解題者；團隊缺乏擔當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治本對策</a:t>
            </a:r>
            <a:br/>
            <a:r>
              <a:t>(To-Be 解方)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建立未來自我想像：認識到 10 倍目標是過濾雜訊的『過濾器』而非沉重負擔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0778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938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預先鎖定年度自由日：在每年初第一時間排定 150 天，倒逼日常工作進行 80% 減法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6916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4076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實施結果導向授權：只審核成果標準與指標，賦予團隊自主選擇解決方案的權力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實施行動路徑圖  ｜  版型 4：連鎖論法 (Roadmap)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主張：落地10倍思維的四步實施法：盤點、修剪、鎖定時程並尋找關鍵合作者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以具體可衡量的漸進步驟，在 90 天內啟動第一輪十倍成長正向循環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《10倍成長思維》實踐手冊 ｜ Accenture 落地實施路線圖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874519"/>
            <a:ext cx="10728655" cy="384048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② 時間的經過、事物的因果順序、端到端工作流程 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1" name="Chevron 10"/>
          <p:cNvSpPr/>
          <p:nvPr/>
        </p:nvSpPr>
        <p:spPr>
          <a:xfrm>
            <a:off x="3470833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833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3713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Chevron 13"/>
          <p:cNvSpPr/>
          <p:nvPr/>
        </p:nvSpPr>
        <p:spPr>
          <a:xfrm>
            <a:off x="6210147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7" name="Chevron 16"/>
          <p:cNvSpPr/>
          <p:nvPr/>
        </p:nvSpPr>
        <p:spPr>
          <a:xfrm>
            <a:off x="8949461" y="2468880"/>
            <a:ext cx="2510713" cy="777240"/>
          </a:xfrm>
          <a:prstGeom prst="chevron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9461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2341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總結與行動倡議  ｜  版型 2：並列論法 (Parallel)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主張：10倍比2倍更簡單：擁抱少而精的質變智慧，開啟自由倍增的人生新章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三大核心信念匯聚成推動一生的成長飛輪，讓卓越不再伴隨過勞與耗竭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Dan Sullivan &amp; Dr. Benjamin Hardy《10倍成長思維》結語 ｜ McKinsey 顧問總結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核心信念一：</a:t>
            </a:r>
            <a:br/>
            <a:r>
              <a:t>減法才是最高智慧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成長不是收集更多負擔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敢於捨棄 80% 才有真突破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在少數關鍵點做到天下無敵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以質量的飛躍取代數量的堆疊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核心信念二：</a:t>
            </a:r>
            <a:br/>
            <a:r>
              <a:t>深度充能驅動高產出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自由日是所有創造力的源泉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徹底斷聯休假創造清晰思維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告別工業時代的打卡贖罪心態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以心流飽滿狀態迎接專注日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核心信念三：</a:t>
            </a:r>
            <a:br/>
            <a:r>
              <a:t>協同賦能實現全自由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永遠問 Who 而不是苦思 How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與英雄同盟建立深層互利網絡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打造自我管理的自驅組織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收穫時間、金錢、人際與目的自由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